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6858000" cy="6858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840480"/>
            <a:ext cx="5943600" cy="59436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1137971"/>
            <a:ext cx="211226" cy="2112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0704" y="1051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  ·  ON-DEVICE VOICE DICTATION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627632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Voice2</a:t>
            </a:r>
            <a:pPr indent="0" marL="0">
              <a:buNone/>
            </a:pPr>
            <a:r>
              <a:rPr lang="en-US" sz="5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key, speak, and the words are typed instantly wherever your cursor is — no cloud calls, no per-word cost, 100% on-device.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1298448" cy="420624"/>
          </a:xfrm>
          <a:prstGeom prst="roundRect">
            <a:avLst>
              <a:gd name="adj" fmla="val 17391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1605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 forever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48256" y="4160520"/>
            <a:ext cx="1755648" cy="420624"/>
          </a:xfrm>
          <a:prstGeom prst="roundRect">
            <a:avLst>
              <a:gd name="adj" fmla="val 17391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48256" y="41605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network calls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05072" y="4160520"/>
            <a:ext cx="1481328" cy="420624"/>
          </a:xfrm>
          <a:prstGeom prst="roundRect">
            <a:avLst>
              <a:gd name="adj" fmla="val 17391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5072" y="416052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licensed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080760"/>
            <a:ext cx="292608" cy="29260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" y="6095390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6053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B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github.com/anukool23/voice2prompt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Anukool Patel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360920" y="1508760"/>
            <a:ext cx="4279392" cy="3703320"/>
          </a:xfrm>
          <a:prstGeom prst="roundRect">
            <a:avLst>
              <a:gd name="adj" fmla="val 2222"/>
            </a:avLst>
          </a:prstGeom>
          <a:solidFill>
            <a:srgbClr val="0B0B12"/>
          </a:solidFill>
          <a:ln w="12700">
            <a:solidFill>
              <a:srgbClr val="26263A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60920" y="1508760"/>
            <a:ext cx="4279392" cy="384048"/>
          </a:xfrm>
          <a:prstGeom prst="rect">
            <a:avLst/>
          </a:prstGeom>
          <a:solidFill>
            <a:srgbClr val="101018"/>
          </a:solidFill>
          <a:ln/>
        </p:spPr>
      </p:sp>
      <p:sp>
        <p:nvSpPr>
          <p:cNvPr id="21" name="Shape 17"/>
          <p:cNvSpPr/>
          <p:nvPr/>
        </p:nvSpPr>
        <p:spPr>
          <a:xfrm>
            <a:off x="7543800" y="165506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18"/>
          <p:cNvSpPr/>
          <p:nvPr/>
        </p:nvSpPr>
        <p:spPr>
          <a:xfrm>
            <a:off x="7763256" y="165506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19"/>
          <p:cNvSpPr/>
          <p:nvPr/>
        </p:nvSpPr>
        <p:spPr>
          <a:xfrm>
            <a:off x="7982712" y="165506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0"/>
          <p:cNvSpPr/>
          <p:nvPr/>
        </p:nvSpPr>
        <p:spPr>
          <a:xfrm>
            <a:off x="8275320" y="1508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voice2prompt — interactive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616952" y="207568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➜  </a:t>
            </a:r>
            <a:pPr indent="0" marL="0">
              <a:buNone/>
            </a:pPr>
            <a:r>
              <a:rPr lang="en-US" sz="1250" dirty="0">
                <a:solidFill>
                  <a:srgbClr val="AB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./bin/voice2prompt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616952" y="245973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Ctrl+Option+Space</a:t>
            </a:r>
            <a:pPr indent="0" marL="0">
              <a:buNone/>
            </a:pPr>
            <a:r>
              <a:rPr lang="en-US" sz="1200" dirty="0">
                <a:solidFill>
                  <a:srgbClr val="AB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speak, release…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616952" y="3219704"/>
            <a:ext cx="73152" cy="1270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28" name="Shape 24"/>
          <p:cNvSpPr/>
          <p:nvPr/>
        </p:nvSpPr>
        <p:spPr>
          <a:xfrm>
            <a:off x="7740396" y="3067304"/>
            <a:ext cx="73152" cy="2794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29" name="Shape 25"/>
          <p:cNvSpPr/>
          <p:nvPr/>
        </p:nvSpPr>
        <p:spPr>
          <a:xfrm>
            <a:off x="7863840" y="3168904"/>
            <a:ext cx="73152" cy="1778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0" name="Shape 26"/>
          <p:cNvSpPr/>
          <p:nvPr/>
        </p:nvSpPr>
        <p:spPr>
          <a:xfrm>
            <a:off x="7987284" y="2991104"/>
            <a:ext cx="73152" cy="3556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1" name="Shape 27"/>
          <p:cNvSpPr/>
          <p:nvPr/>
        </p:nvSpPr>
        <p:spPr>
          <a:xfrm>
            <a:off x="8110728" y="3232404"/>
            <a:ext cx="73152" cy="1143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2" name="Shape 28"/>
          <p:cNvSpPr/>
          <p:nvPr/>
        </p:nvSpPr>
        <p:spPr>
          <a:xfrm>
            <a:off x="8234172" y="3092704"/>
            <a:ext cx="73152" cy="2540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3" name="Shape 29"/>
          <p:cNvSpPr/>
          <p:nvPr/>
        </p:nvSpPr>
        <p:spPr>
          <a:xfrm>
            <a:off x="8357616" y="3016504"/>
            <a:ext cx="73152" cy="330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4" name="Shape 30"/>
          <p:cNvSpPr/>
          <p:nvPr/>
        </p:nvSpPr>
        <p:spPr>
          <a:xfrm>
            <a:off x="8481060" y="3194304"/>
            <a:ext cx="73152" cy="1524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5" name="Shape 31"/>
          <p:cNvSpPr/>
          <p:nvPr/>
        </p:nvSpPr>
        <p:spPr>
          <a:xfrm>
            <a:off x="8604504" y="3118104"/>
            <a:ext cx="73152" cy="2286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6" name="Shape 32"/>
          <p:cNvSpPr/>
          <p:nvPr/>
        </p:nvSpPr>
        <p:spPr>
          <a:xfrm>
            <a:off x="8727948" y="3041904"/>
            <a:ext cx="73152" cy="3048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7" name="Shape 33"/>
          <p:cNvSpPr/>
          <p:nvPr/>
        </p:nvSpPr>
        <p:spPr>
          <a:xfrm>
            <a:off x="8851392" y="3245104"/>
            <a:ext cx="73152" cy="1016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8" name="Shape 34"/>
          <p:cNvSpPr/>
          <p:nvPr/>
        </p:nvSpPr>
        <p:spPr>
          <a:xfrm>
            <a:off x="8974836" y="3143504"/>
            <a:ext cx="73152" cy="203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9" name="Shape 35"/>
          <p:cNvSpPr/>
          <p:nvPr/>
        </p:nvSpPr>
        <p:spPr>
          <a:xfrm>
            <a:off x="9098280" y="3067304"/>
            <a:ext cx="73152" cy="2794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0" name="Shape 36"/>
          <p:cNvSpPr/>
          <p:nvPr/>
        </p:nvSpPr>
        <p:spPr>
          <a:xfrm>
            <a:off x="9221724" y="3207004"/>
            <a:ext cx="73152" cy="1397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1" name="Shape 37"/>
          <p:cNvSpPr/>
          <p:nvPr/>
        </p:nvSpPr>
        <p:spPr>
          <a:xfrm>
            <a:off x="9345168" y="3003804"/>
            <a:ext cx="73152" cy="3429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8612" y="3181604"/>
            <a:ext cx="73152" cy="1651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3" name="Shape 39"/>
          <p:cNvSpPr/>
          <p:nvPr/>
        </p:nvSpPr>
        <p:spPr>
          <a:xfrm>
            <a:off x="9592056" y="3105404"/>
            <a:ext cx="73152" cy="2413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4" name="Shape 40"/>
          <p:cNvSpPr/>
          <p:nvPr/>
        </p:nvSpPr>
        <p:spPr>
          <a:xfrm>
            <a:off x="9715500" y="3232404"/>
            <a:ext cx="73152" cy="1143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5" name="Shape 41"/>
          <p:cNvSpPr/>
          <p:nvPr/>
        </p:nvSpPr>
        <p:spPr>
          <a:xfrm>
            <a:off x="9838944" y="3156204"/>
            <a:ext cx="73152" cy="1905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6" name="Shape 42"/>
          <p:cNvSpPr/>
          <p:nvPr/>
        </p:nvSpPr>
        <p:spPr>
          <a:xfrm>
            <a:off x="9962388" y="3054604"/>
            <a:ext cx="73152" cy="2921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47" name="Text 43"/>
          <p:cNvSpPr/>
          <p:nvPr/>
        </p:nvSpPr>
        <p:spPr>
          <a:xfrm>
            <a:off x="7616952" y="364845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 this is a test"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7616952" y="4105656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 2.1s | infer 190ms | TOTAL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260ms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via accessibility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dictation has a cost you don't see upfront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2A151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33629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037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voice, someone else's server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you dictate is streamed to a third-party cloud for processing before it ever reaches your screen.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2A151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33629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2037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Paywalled by design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37960" y="28803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Wispr Flow's free tier caps at 2,000 words/week on desktop — unlimited use runs $15/mo or $144/yr.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434840"/>
            <a:ext cx="566928" cy="566928"/>
          </a:xfrm>
          <a:prstGeom prst="ellipse">
            <a:avLst/>
          </a:prstGeom>
          <a:solidFill>
            <a:srgbClr val="2A151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576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4439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without a connection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68680" y="51206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internet, no dictation. Most cloud tools don't advertise that hard dependency upfront.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11480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434840"/>
            <a:ext cx="566928" cy="566928"/>
          </a:xfrm>
          <a:prstGeom prst="ellipse">
            <a:avLst/>
          </a:prstGeom>
          <a:solidFill>
            <a:srgbClr val="2A151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576572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4439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&amp; unauditable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6537960" y="51206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see what's sent, how it's processed, or extend the pipeline yourself.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pipeline runs on your machine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606040" y="187452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14141F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745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BA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DICTATION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343400" cy="502920"/>
          </a:xfrm>
          <a:prstGeom prst="roundRect">
            <a:avLst>
              <a:gd name="adj" fmla="val 10909"/>
            </a:avLst>
          </a:prstGeom>
          <a:solidFill>
            <a:srgbClr val="1D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8745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VOICE2PROMPT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06040" y="2523744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52374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leaves your device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2523744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D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523744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localhost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606040" y="3566160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3566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$15/mo · word caps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40880" y="3566160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D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3566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forever, unlimited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608576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use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2606040" y="4608576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460857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040880" y="4608576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D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460857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650992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2606040" y="5650992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56509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source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40880" y="5650992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1D173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56509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licensed, auditable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five steps, all on localhost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74420" y="2103120"/>
            <a:ext cx="777240" cy="777240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502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Hotkey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or 1 of 5 chords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77440" y="22402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287268" y="2103120"/>
            <a:ext cx="777240" cy="777240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350" y="23052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61488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capture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61488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16kHz mono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90288" y="22402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500116" y="2103120"/>
            <a:ext cx="777240" cy="777240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98" y="23052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74336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74336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STT, Metal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803136" y="22402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712964" y="2103120"/>
            <a:ext cx="777240" cy="777240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46" y="23052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87184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cleanup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015984" y="22402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9925812" y="2103120"/>
            <a:ext cx="777240" cy="777240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894" y="230520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00032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400032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+ clipboard fallback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416052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" y="441655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~260ms</a:t>
            </a:r>
            <a:endParaRPr lang="en-US" sz="4600" dirty="0"/>
          </a:p>
        </p:txBody>
      </p:sp>
      <p:sp>
        <p:nvSpPr>
          <p:cNvPr id="31" name="Text 24"/>
          <p:cNvSpPr/>
          <p:nvPr/>
        </p:nvSpPr>
        <p:spPr>
          <a:xfrm>
            <a:off x="548640" y="52395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round trip · sub-second latency, entirely on localhost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finally got fast enough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0162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562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finally caught up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25880" y="22402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and small LLMs like Qwen2.5:3b now run in real time on ordinary Apple Silicon — no GPU cluster required.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11353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535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Ergonomics over one-size-fits-all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325880" y="33375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trigger options — hold-to-talk chords plus Fn with a hands-free lock — so it fits how you already work, not the other way around.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21081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0507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that actually works everywhere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325880" y="44348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Accessibility-API insertion with an automatic clipboard + ⌘V fallback for apps — Slack, Notion, VS Code — that reject AX insertion.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rgbClr val="1D173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3080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1480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the open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325880" y="55321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— STT, cleanup, injection, commands — is swappable and auditable. Anyone can extend the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fast-growing market, still dominated by subscriptions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67128"/>
            <a:ext cx="502920" cy="502920"/>
          </a:xfrm>
          <a:prstGeom prst="ellipse">
            <a:avLst/>
          </a:prstGeom>
          <a:solidFill>
            <a:srgbClr val="1225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29285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$33.6B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3264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speech recognition software market, 2026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from $28.2B in 2025 · 19.2% CAGR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4141F"/>
          </a:solidFill>
          <a:ln w="12700">
            <a:solidFill>
              <a:srgbClr val="2626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4270248"/>
            <a:ext cx="502920" cy="502920"/>
          </a:xfrm>
          <a:prstGeom prst="ellipse">
            <a:avLst/>
          </a:prstGeom>
          <a:solidFill>
            <a:srgbClr val="12251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439597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4846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$16.4B by 2035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868680" y="536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speech-to-text tool market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68680" y="5623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$3.87B in 2026 · 17.4% CAGR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ResearchAndMarkets (2026) · Precedence Research (2026)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72200" y="18745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4808" y="2002536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Wispr Flow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64808" y="2331720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$15/mo or $144/yr · cloud-based · closed source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72200" y="293522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64808" y="306324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64808" y="339242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desktop license · expensive · closed source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72200" y="399592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4141F"/>
          </a:solidFill>
          <a:ln w="9525">
            <a:solidFill>
              <a:srgbClr val="26263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64808" y="4123944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OS dictation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464808" y="4453128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BA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cleanup or commands · limited accuracy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172200" y="505663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D173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64808" y="518464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Voice2Prompt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464808" y="5513832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 · on-device · open source (MIT)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7280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225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51176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0487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STT + Accessibility-API injection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30098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cleanup via Ollama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19709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trigger options (Fn + 5 hotkey chords)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39512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509320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— editing + LLM rewrite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79392" y="1965960"/>
            <a:ext cx="1385316" cy="329184"/>
          </a:xfrm>
          <a:prstGeom prst="roundRect">
            <a:avLst>
              <a:gd name="adj" fmla="val 50000"/>
            </a:avLst>
          </a:prstGeom>
          <a:solidFill>
            <a:srgbClr val="2A21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965960"/>
            <a:ext cx="13853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9392" y="2551176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240487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polish &amp; notarization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79392" y="3447288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330098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Settings/onboarding app — real-world testing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10144" y="1965960"/>
            <a:ext cx="1001268" cy="329184"/>
          </a:xfrm>
          <a:prstGeom prst="roundRect">
            <a:avLst>
              <a:gd name="adj" fmla="val 50000"/>
            </a:avLst>
          </a:prstGeom>
          <a:solidFill>
            <a:srgbClr val="1019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0144" y="1965960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10144" y="2551176"/>
            <a:ext cx="100584" cy="1005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66176" y="240487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port (UI Automation-based injection)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10144" y="3447288"/>
            <a:ext cx="100584" cy="1005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330098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voice-command library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10144" y="4343400"/>
            <a:ext cx="100584" cy="1005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8266176" y="419709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contributions &amp; plugins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355080"/>
            <a:ext cx="310896" cy="310896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6370625"/>
            <a:ext cx="279806" cy="27980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41832" y="63367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 it, try it, build on it — github.com/anukool23/voice2prompt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2026-07-19T17:09:35Z</dcterms:created>
  <dcterms:modified xsi:type="dcterms:W3CDTF">2026-07-19T17:09:35Z</dcterms:modified>
</cp:coreProperties>
</file>